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09728"/>
            <a:ext cx="4114800" cy="674827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9728"/>
            <a:ext cx="91440" cy="6748272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Demo MVP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FinProof Agent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금융광고 근거 심의 자동화 플랫폼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114800" cy="3657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준법감시인이 3분 안에 이슈를 확인하고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기반으로 승인·반려·수정 요청을 결정합니다.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1371600"/>
            <a:ext cx="228600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371600"/>
            <a:ext cx="2286000" cy="9144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124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서브에이전트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2606040"/>
            <a:ext cx="228600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606040"/>
            <a:ext cx="2286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124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심의 시작 → 이슈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3840480"/>
            <a:ext cx="228600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3840480"/>
            <a:ext cx="228600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1248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/ Reviewer /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5074920"/>
            <a:ext cx="228600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2FA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5074920"/>
            <a:ext cx="2286000" cy="91440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5166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412480" y="5806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법령·사내기준 근거 인용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왜 지금 이 문제인가?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금융소비자보호법 제22조 — 모든 금융광고는 내부 심의 + 협회 심의를 거쳐야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" y="1453896"/>
            <a:ext cx="2651760" cy="18288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1828800"/>
          </a:xfrm>
          <a:prstGeom prst="rect">
            <a:avLst/>
          </a:prstGeom>
          <a:solidFill>
            <a:srgbClr val="162447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45720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수작업 의존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46504"/>
            <a:ext cx="2468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심의자가 법령집·약관·체크리스트를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수동으로 교차 검토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8416" y="1453896"/>
            <a:ext cx="2651760" cy="18288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17320"/>
            <a:ext cx="2651760" cy="1828800"/>
          </a:xfrm>
          <a:prstGeom prst="rect">
            <a:avLst/>
          </a:prstGeom>
          <a:solidFill>
            <a:srgbClr val="16244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17320"/>
            <a:ext cx="45720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긴 처리 시간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746504"/>
            <a:ext cx="2468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수집 → 검토 → 의견 작성까지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수 시간 소요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453896"/>
            <a:ext cx="2651760" cy="18288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51760" cy="182880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17320"/>
            <a:ext cx="45720" cy="182880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417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근거 산발 관리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746504"/>
            <a:ext cx="2468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 개정 반영이 늦고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버전 관리 체계 부재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1453896"/>
            <a:ext cx="2651760" cy="182880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417320"/>
            <a:ext cx="2651760" cy="1828800"/>
          </a:xfrm>
          <a:prstGeom prst="rect">
            <a:avLst/>
          </a:prstGeom>
          <a:solidFill>
            <a:srgbClr val="16244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1417320"/>
            <a:ext cx="45720" cy="1828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417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판단 비일관성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1746504"/>
            <a:ext cx="2468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담당자마다 기준 해석 달라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표현 다른 결과 발생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1247120" cy="3657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금소법 제22조 위반 리스크 + 심의 품질 저하 + 준법감시인의 번아웃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FinProof Agent가 해결하는 것: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자료 자동 분류·분석 → 즉시 이슈 목록 제공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법령·내규·체크리스트 RAG 근거 자동 인용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전문 서브에이전트 병렬 실행 → 3분 내 결과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초안 자동 생성 → 심의자는 검토·결정에만 집중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제품 화면 흐름 — 3분 심의 데모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1005840" cy="100584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121408" y="1444752"/>
            <a:ext cx="640080" cy="3657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업로드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광고시안·약관·설명서 ZIP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또는 샘플 선택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005840"/>
            <a:ext cx="1005840" cy="100584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25696" y="1444752"/>
            <a:ext cx="640080" cy="3657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분류·파싱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61488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파일유형 분류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 자료 자동 감지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05856" y="1005840"/>
            <a:ext cx="1005840" cy="10058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29984" y="1444752"/>
            <a:ext cx="640080" cy="3657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실행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65776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서브에이전트 병렬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법령·RAG 근거 검색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0144" y="1005840"/>
            <a:ext cx="1005840" cy="100584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34272" y="1444752"/>
            <a:ext cx="640080" cy="3657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워크벤치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70064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위험도별 이슈 목록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패널 + 채팅 질의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14432" y="1005840"/>
            <a:ext cx="1005840" cy="100584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4432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7435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&amp; 리포트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74352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/ 수정요청 / 반려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의견초안 + PDF 보고서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1247120" cy="3657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진입점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" y="3922776"/>
            <a:ext cx="3749040" cy="10515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886200"/>
            <a:ext cx="374904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886200"/>
            <a:ext cx="45720" cy="105156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886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 (요청자)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4215384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패키지 제출 → 상태 추적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98264" y="3922776"/>
            <a:ext cx="3749040" cy="10515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61688" y="3886200"/>
            <a:ext cx="374904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61688" y="3886200"/>
            <a:ext cx="45720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3886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 (심의자)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98848" y="4215384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실행 → 이슈 검토 → 최종 결정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02752" y="3922776"/>
            <a:ext cx="3749040" cy="10515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66176" y="3886200"/>
            <a:ext cx="3749040" cy="1051560"/>
          </a:xfrm>
          <a:prstGeom prst="rect">
            <a:avLst/>
          </a:prstGeom>
          <a:solidFill>
            <a:srgbClr val="16244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6176" y="3886200"/>
            <a:ext cx="45720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03336" y="3886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Admin  (관리자)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03336" y="4215384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지식문서 관리 → 운영 현황 모니터링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 분석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73736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737360" cy="8229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HTTP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527048"/>
            <a:ext cx="155448" cy="36576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005840"/>
            <a:ext cx="173736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1005840"/>
            <a:ext cx="1737360" cy="8229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ANN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05072" y="1527048"/>
            <a:ext cx="155448" cy="36576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9664" y="1005840"/>
            <a:ext cx="173736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9664" y="1005840"/>
            <a:ext cx="1737360" cy="8229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9664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rerank-v3.5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07024" y="1527048"/>
            <a:ext cx="155448" cy="36576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005840"/>
            <a:ext cx="173736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005840"/>
            <a:ext cx="173736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71616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도메인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Agent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08976" y="1527048"/>
            <a:ext cx="155448" cy="36576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1005840"/>
            <a:ext cx="173736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1005840"/>
            <a:ext cx="1737360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73568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해소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riskLevel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10928" y="1527048"/>
            <a:ext cx="155448" cy="36576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0" y="1005840"/>
            <a:ext cx="1737360" cy="1097280"/>
          </a:xfrm>
          <a:prstGeom prst="rect">
            <a:avLst/>
          </a:prstGeom>
          <a:solidFill>
            <a:srgbClr val="162447"/>
          </a:solidFill>
          <a:ln w="19050">
            <a:solidFill>
              <a:srgbClr val="2FA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005840"/>
            <a:ext cx="1737360" cy="82296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Evidence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ReviewIssue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Chunks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도메인 서브에이전트 — 병렬 실행 후 Lead가 통합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374904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83464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creative_review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3163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크리에이티브 표현·시각 요소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61688" y="2834640"/>
            <a:ext cx="374904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61688" y="283464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71416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product_terms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71416" y="3163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조건·금리·혜택 수치 정확성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66176" y="2834640"/>
            <a:ext cx="374904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6176" y="283464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75904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75904" y="3163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법령·감독규정 위반 여부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611880"/>
            <a:ext cx="374904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61188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3611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internal_policy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" y="3941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심의기준·체크리스트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61688" y="3611880"/>
            <a:ext cx="374904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61688" y="361188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71416" y="3611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evidence_verification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71416" y="3941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chunk 사실 검증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266176" y="3611880"/>
            <a:ext cx="374904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66176" y="3611880"/>
            <a:ext cx="45720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75904" y="3611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case_search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375904" y="3941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과거 심의사례 참조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462272"/>
            <a:ext cx="112471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44622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ModelRouter — GPT-5 계열 (text) + Gemini 2.5 (multimodal/OCR)  ·  태스크/위험도 기반 티어 자동 승격  ·  Cohere rerank-v3.5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FA8E0"/>
          </a:solidFill>
          <a:ln w="12700">
            <a:solidFill>
              <a:srgbClr val="2FA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심의 워크벤치 — 핵심 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566160" cy="4480560"/>
          </a:xfrm>
          <a:prstGeom prst="rect">
            <a:avLst/>
          </a:prstGeom>
          <a:solidFill>
            <a:srgbClr val="0A1628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목록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3383280" cy="868680"/>
          </a:xfrm>
          <a:prstGeom prst="rect">
            <a:avLst/>
          </a:prstGeom>
          <a:solidFill>
            <a:srgbClr val="162447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53312"/>
            <a:ext cx="54864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00784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연금리 표기 오류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세전/세후 미구분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3383280" cy="868680"/>
          </a:xfrm>
          <a:prstGeom prst="rect">
            <a:avLst/>
          </a:prstGeom>
          <a:solidFill>
            <a:srgbClr val="16244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59152"/>
            <a:ext cx="54864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우대금리 조건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달성 가능성 미표시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3383280" cy="868680"/>
          </a:xfrm>
          <a:prstGeom prst="rect">
            <a:avLst/>
          </a:prstGeom>
          <a:solidFill>
            <a:srgbClr val="16244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64992"/>
            <a:ext cx="54864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649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12464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비교광고 근거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출처 명시 누락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70832"/>
            <a:ext cx="3383280" cy="868680"/>
          </a:xfrm>
          <a:prstGeom prst="rect">
            <a:avLst/>
          </a:prstGeom>
          <a:solidFill>
            <a:srgbClr val="16244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70832"/>
            <a:ext cx="54864" cy="868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708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718304"/>
            <a:ext cx="3200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예금자보호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보호한도 미표시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914400"/>
            <a:ext cx="4206240" cy="44805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패널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1353312"/>
            <a:ext cx="4023360" cy="1188720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1353312"/>
            <a:ext cx="594360" cy="32004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135331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13533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관련도 0.96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15968" y="170078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금소법 시행령 §14③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금융상품 광고 시 이자율은 세전·세후 구분 표기 의무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51960" y="2679192"/>
            <a:ext cx="4023360" cy="1188720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2679192"/>
            <a:ext cx="594360" cy="32004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267919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67919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관련도 0.91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15968" y="302666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광고심의 체크리스트 §3-2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예금 금리 광고 — 연금리 기준 우대조건 명시 필수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4005072"/>
            <a:ext cx="4023360" cy="1188720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4005072"/>
            <a:ext cx="594360" cy="32004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40050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400507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관련도 0.87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15968" y="435254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FP-2025-0032 (수정요청)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표현 수정 후 승인 이력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914400"/>
            <a:ext cx="3200400" cy="4480560"/>
          </a:xfrm>
          <a:prstGeom prst="rect">
            <a:avLst/>
          </a:prstGeom>
          <a:solidFill>
            <a:srgbClr val="0A1628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초안 / 최종 결정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95360" y="1353312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"광고 내용 중 연금리 표기가 세전 기준인지 세후 기준인지 명확하지 않아 금소법 제22조에 따른 설명의무 위반 가능성이 있습니다. 우대금리 조건도 달성 가능성을 함께 표시해 주시기 바랍니다."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9536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수정요청 사유 (AI 초안)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95360" y="3456432"/>
            <a:ext cx="3017520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34564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승인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595360" y="3950208"/>
            <a:ext cx="3017520" cy="384048"/>
          </a:xfrm>
          <a:prstGeom prst="rect">
            <a:avLst/>
          </a:prstGeom>
          <a:solidFill>
            <a:srgbClr val="F4A261">
              <a:alpha val="2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3950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수정요청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595360" y="4443984"/>
            <a:ext cx="3017520" cy="384048"/>
          </a:xfrm>
          <a:prstGeom prst="rect">
            <a:avLst/>
          </a:prstGeom>
          <a:solidFill>
            <a:srgbClr val="E63946">
              <a:alpha val="20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44439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반려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기술 스택 &amp;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/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49040" cy="2377440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React 19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/api/v1/**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접근제어 (RBAC)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Demo Auth 모드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960120"/>
            <a:ext cx="374904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파이프라인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1371600"/>
            <a:ext cx="3749040" cy="2377440"/>
          </a:xfrm>
          <a:prstGeom prst="rect">
            <a:avLst/>
          </a:prstGeom>
          <a:solidFill>
            <a:srgbClr val="16244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4173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OCR: Gemini 2.5 / HTTP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OpenAI text-3-*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pgvector (Supabase)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Reranker: Cohere rerank-v3.5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GPT-5 계열 + Gemini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960120"/>
            <a:ext cx="37490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/ 운영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66176" y="1371600"/>
            <a:ext cx="3749040" cy="2377440"/>
          </a:xfrm>
          <a:prstGeom prst="rect">
            <a:avLst/>
          </a:prstGeom>
          <a:solidFill>
            <a:srgbClr val="16244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4173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systemd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pgvector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(파일 스토리지)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/ queued 실행 모드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감사 이벤트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124712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86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Adapter-First 설계 — OCR·Embedding·RAG·Reranker·Storage 모두 env 변수 하나로 교체 가능. Mock 모드로 인프라 없이 즉시 데모 실행.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실행 모드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" y="5065776"/>
            <a:ext cx="5669280" cy="8229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029200"/>
            <a:ext cx="5669280" cy="822960"/>
          </a:xfrm>
          <a:prstGeom prst="rect">
            <a:avLst/>
          </a:prstGeom>
          <a:solidFill>
            <a:srgbClr val="16244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029200"/>
            <a:ext cx="4572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029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모드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535838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요청에서 즉시 실행 → 데모에 최적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45936" y="5065776"/>
            <a:ext cx="5669280" cy="82296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5029200"/>
            <a:ext cx="5669280" cy="822960"/>
          </a:xfrm>
          <a:prstGeom prst="rect">
            <a:avLst/>
          </a:prstGeom>
          <a:solidFill>
            <a:srgbClr val="16244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02920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029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모드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535838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analysis-worker systemd 유닛 별도 운영 → 프로덕션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RAG 지식문서 체계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669280" cy="2423160"/>
          </a:xfrm>
          <a:prstGeom prst="rect">
            <a:avLst/>
          </a:prstGeom>
          <a:solidFill>
            <a:srgbClr val="162447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669280" cy="438912"/>
          </a:xfrm>
          <a:prstGeom prst="rect">
            <a:avLst/>
          </a:prstGeom>
          <a:solidFill>
            <a:srgbClr val="E63946">
              <a:alpha val="3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법령 / 감독규정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22건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548640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금소법 시행령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금소법 감독규정·시행세칙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보험업감독규정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자본시장법·금투업규정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여신전문금융업법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표시광고법 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5669280" cy="2423160"/>
          </a:xfrm>
          <a:prstGeom prst="rect">
            <a:avLst/>
          </a:prstGeom>
          <a:solidFill>
            <a:srgbClr val="16244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005840"/>
            <a:ext cx="5669280" cy="438912"/>
          </a:xfrm>
          <a:prstGeom prst="rect">
            <a:avLst/>
          </a:prstGeom>
          <a:solidFill>
            <a:srgbClr val="F4A261">
              <a:alpha val="3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005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협회 자율규제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61320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P0~P1 14건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19088" y="1481328"/>
            <a:ext cx="548640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생명보험협회 광고규정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손해보험협회 광고규정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금융투자협회 광고선전규정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대부금융광고심의규정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여신금융협회 자율규제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저축은행중앙회 광고규정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669280" cy="2423160"/>
          </a:xfrm>
          <a:prstGeom prst="rect">
            <a:avLst/>
          </a:prstGeom>
          <a:solidFill>
            <a:srgbClr val="162447"/>
          </a:solidFill>
          <a:ln w="19050">
            <a:solidFill>
              <a:srgbClr val="1A7B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5669280" cy="438912"/>
          </a:xfrm>
          <a:prstGeom prst="rect">
            <a:avLst/>
          </a:prstGeom>
          <a:solidFill>
            <a:srgbClr val="1A7BBF">
              <a:alpha val="30000"/>
            </a:srgbClr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118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가이드라인 / FAQ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361188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10건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087368"/>
            <a:ext cx="548640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금융광고규제 가이드라인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설명의무 가이드라인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플랫폼광고·업무광고 구분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추천보증 표시광고 심사지침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방송광고심의 규정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금감원 FAQ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611880"/>
            <a:ext cx="5669280" cy="2423160"/>
          </a:xfrm>
          <a:prstGeom prst="rect">
            <a:avLst/>
          </a:prstGeom>
          <a:solidFill>
            <a:srgbClr val="16244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611880"/>
            <a:ext cx="5669280" cy="438912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6118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상품 원문 샘플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61320" y="361188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18건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9088" y="4087368"/>
            <a:ext cx="548640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예금·대출 상품설명서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 약관·상품요약서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약관·이용약관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투자설명서·간이투자설명서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 심의필 예시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공시 금리표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제품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749040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MVP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960120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32004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패키지 업로드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자동 분류 결과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케이스 1~2건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하이라이트·근거 패널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반려/수정 의견 초안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발표 3분 시연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2679192"/>
            <a:ext cx="155448" cy="3657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960120"/>
            <a:ext cx="3749040" cy="59436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2008" y="960120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61688" y="1554480"/>
            <a:ext cx="3749040" cy="3200400"/>
          </a:xfrm>
          <a:prstGeom prst="rect">
            <a:avLst/>
          </a:prstGeom>
          <a:solidFill>
            <a:srgbClr val="162447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6002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 (JWT)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파일 업로드 + S3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pgvector RAG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감사로그 + 리포트 다운로드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심의사례 RAG 설계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파일럿 심의 처리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0728" y="2679192"/>
            <a:ext cx="155448" cy="3657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960120"/>
            <a:ext cx="374904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26496" y="960120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계획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66176" y="1554480"/>
            <a:ext cx="3749040" cy="3200400"/>
          </a:xfrm>
          <a:prstGeom prst="rect">
            <a:avLst/>
          </a:prstGeom>
          <a:solidFill>
            <a:srgbClr val="16244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6002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계열사별 정책 분리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결재/그룹웨어 연동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 업데이트 모니터링 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유사사례 전문가 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심의번호 관리·다상품군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원커맨드 설치형 Private 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19472"/>
            <a:ext cx="11247120" cy="3657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완료 기준: 준법심의자가 실제 광고 자료를 업로드하고, 이슈별 판단 이력이 다음 유사 심의에 자동 검색됩니다.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09728"/>
            <a:ext cx="4846320" cy="663854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09728"/>
            <a:ext cx="91440" cy="66385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FinProof Agent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금융광고 근거 심의 자동화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114800" cy="3657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준법감시인의 3분 심의를 현실로.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법령·내규·과거사례 근거를 실시간으로 제시하여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심의자가 판단에만 집중할 수 있도록 지원합니다.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1188720"/>
            <a:ext cx="20574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188720"/>
            <a:ext cx="205740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280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22건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49808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우선 등록 법령·규정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188720"/>
            <a:ext cx="20574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1188720"/>
            <a:ext cx="205740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280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69264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서브에이전트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3017520"/>
            <a:ext cx="20574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3017520"/>
            <a:ext cx="205740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108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498080" y="3931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→ 이슈 확인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3017520"/>
            <a:ext cx="20574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3017520"/>
            <a:ext cx="205740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31089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692640" y="3931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→ V1 → Platform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TypeScript · OpenAI · Gemini · Cohere · Supabase pgvector · AWS EC2/S3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FinProof Agent</dc:title>
  <dc:subject>PptxGenJS Presentation</dc:subject>
  <dc:creator>PptxGenJS</dc:creator>
  <cp:lastModifiedBy>PptxGenJS</cp:lastModifiedBy>
  <cp:revision>1</cp:revision>
  <dcterms:created xsi:type="dcterms:W3CDTF">2026-05-30T11:43:55Z</dcterms:created>
  <dcterms:modified xsi:type="dcterms:W3CDTF">2026-05-30T11:43:55Z</dcterms:modified>
</cp:coreProperties>
</file>